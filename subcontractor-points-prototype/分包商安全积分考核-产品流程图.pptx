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02266"/>
          </a:solidFill>
          <a:ln>
            <a:noFill/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76809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分包商安全积分考核 · 产品流程图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420624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900" b="0">
                <a:solidFill>
                  <a:srgbClr val="C8E2FA"/>
                </a:solidFill>
                <a:latin typeface="Microsoft YaHei"/>
                <a:ea typeface="Microsoft YaHei"/>
                <a:cs typeface="Microsoft YaHei"/>
              </a:rPr>
              <a:t>劳务分包商 + 作业人员　赋分100　累计至退场不清零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" y="493776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1430">
            <a:solidFill>
              <a:srgbClr val="8C8C8C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123444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劳务教育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493776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E8F3FF"/>
          </a:solidFill>
          <a:ln w="11430">
            <a:solidFill>
              <a:srgbClr val="268D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75488"/>
            <a:ext cx="123444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作业人员积分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493776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1430">
            <a:solidFill>
              <a:srgbClr val="11BC1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475488"/>
            <a:ext cx="123444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分包商积分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93776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FFF7E8"/>
          </a:solidFill>
          <a:ln w="11430">
            <a:solidFill>
              <a:srgbClr val="F77112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475488"/>
            <a:ext cx="123444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分级判断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493776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FFF1F0"/>
          </a:solidFill>
          <a:ln w="11430">
            <a:solidFill>
              <a:srgbClr val="FF414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475488"/>
            <a:ext cx="123444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黑名单/清退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93776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F7F7FF"/>
          </a:solidFill>
          <a:ln w="11430">
            <a:solidFill>
              <a:srgbClr val="5B6C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007" y="475488"/>
            <a:ext cx="123444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项目管理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75488"/>
            <a:ext cx="3840480" cy="20116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800" b="0">
                <a:solidFill>
                  <a:srgbClr val="11BC11"/>
                </a:solidFill>
                <a:latin typeface="Microsoft YaHei"/>
                <a:ea typeface="Microsoft YaHei"/>
                <a:cs typeface="Microsoft YaHei"/>
              </a:rPr>
              <a:t>虚线箭头 = 人员行为联动扣分包商分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" y="713232"/>
            <a:ext cx="11996928" cy="713232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1430">
            <a:solidFill>
              <a:srgbClr val="E8E8E8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758952"/>
            <a:ext cx="14173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劳务教育（外部）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" y="1481328"/>
            <a:ext cx="11996928" cy="2670048"/>
          </a:xfrm>
          <a:prstGeom prst="roundRect">
            <a:avLst>
              <a:gd name="adj" fmla="val 2000"/>
            </a:avLst>
          </a:prstGeom>
          <a:solidFill>
            <a:srgbClr val="F7FBFF"/>
          </a:solidFill>
          <a:ln w="11430">
            <a:solidFill>
              <a:srgbClr val="C8E2FA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" y="1527048"/>
            <a:ext cx="14173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268DFF"/>
                </a:solidFill>
                <a:latin typeface="Microsoft YaHei"/>
                <a:ea typeface="Microsoft YaHei"/>
                <a:cs typeface="Microsoft YaHei"/>
              </a:rPr>
              <a:t>作业人员积分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" y="4206240"/>
            <a:ext cx="11996928" cy="1078992"/>
          </a:xfrm>
          <a:prstGeom prst="roundRect">
            <a:avLst>
              <a:gd name="adj" fmla="val 2000"/>
            </a:avLst>
          </a:prstGeom>
          <a:solidFill>
            <a:srgbClr val="F6FDF8"/>
          </a:solidFill>
          <a:ln w="11430">
            <a:solidFill>
              <a:srgbClr val="C6EBD0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" y="4251959"/>
            <a:ext cx="14173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11BC11"/>
                </a:solidFill>
                <a:latin typeface="Microsoft YaHei"/>
                <a:ea typeface="Microsoft YaHei"/>
                <a:cs typeface="Microsoft YaHei"/>
              </a:rPr>
              <a:t>分包商积分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" y="5340096"/>
            <a:ext cx="11996928" cy="1371600"/>
          </a:xfrm>
          <a:prstGeom prst="roundRect">
            <a:avLst>
              <a:gd name="adj" fmla="val 2000"/>
            </a:avLst>
          </a:prstGeom>
          <a:solidFill>
            <a:srgbClr val="F7F7FF"/>
          </a:solidFill>
          <a:ln w="11430">
            <a:solidFill>
              <a:srgbClr val="D6DB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" y="5385816"/>
            <a:ext cx="14173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1">
                <a:solidFill>
                  <a:srgbClr val="5B6CFF"/>
                </a:solidFill>
                <a:latin typeface="Microsoft YaHei"/>
                <a:ea typeface="Microsoft YaHei"/>
                <a:cs typeface="Microsoft YaHei"/>
              </a:rPr>
              <a:t>项目管理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822960"/>
            <a:ext cx="1874519" cy="512064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4604">
            <a:solidFill>
              <a:srgbClr val="8C8C8C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三级教育合格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人员 / 分包商进场核验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822960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4604">
            <a:solidFill>
              <a:srgbClr val="8C8C8C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停工教育考试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课程 / 学时 / 成绩同步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1792224"/>
            <a:ext cx="1783080" cy="566928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14604">
            <a:solidFill>
              <a:srgbClr val="268D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同步建立人员账户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赋分 100，写入进场流水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1792224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14604">
            <a:solidFill>
              <a:srgbClr val="268D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检查隐患映射扣分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源头扣分后同步；未映射/E类不入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792224"/>
            <a:ext cx="1737360" cy="566928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14604">
            <a:solidFill>
              <a:srgbClr val="268D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人工违章记分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A10 / B8 / C5 / D2 / E0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792224"/>
            <a:ext cx="1691640" cy="566928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14604">
            <a:solidFill>
              <a:srgbClr val="268D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写入人员积分流水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累计至退场，不按月清零</a:t>
            </a:r>
          </a:p>
        </p:txBody>
      </p:sp>
      <p:sp>
        <p:nvSpPr>
          <p:cNvPr id="32" name="Diamond 31"/>
          <p:cNvSpPr/>
          <p:nvPr/>
        </p:nvSpPr>
        <p:spPr>
          <a:xfrm>
            <a:off x="9784080" y="1700784"/>
            <a:ext cx="1417320" cy="749808"/>
          </a:xfrm>
          <a:prstGeom prst="diamond">
            <a:avLst/>
          </a:prstGeom>
          <a:solidFill>
            <a:srgbClr val="FFF7E8"/>
          </a:solidFill>
          <a:ln w="15875">
            <a:solidFill>
              <a:srgbClr val="F77112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当前分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分级判断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1640" y="2651760"/>
            <a:ext cx="1691640" cy="512064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14604">
            <a:solidFill>
              <a:srgbClr val="268D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≥90  正常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继续累计计分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2651760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4604">
            <a:solidFill>
              <a:srgbClr val="F77112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&lt;90  重点管控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提醒；85–90 自学任务不加分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2651760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4604">
            <a:solidFill>
              <a:srgbClr val="F77112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&lt;80  停工培训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下发通知书，7 天内再教育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651760"/>
            <a:ext cx="1874519" cy="512064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4604">
            <a:solidFill>
              <a:srgbClr val="FF414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&lt;70  清退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自动列入人员黑名单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3364992"/>
            <a:ext cx="2011680" cy="585216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14604">
            <a:solidFill>
              <a:srgbClr val="268D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人工确认培训加分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首次合格建议 +10，可再调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364992"/>
            <a:ext cx="1874519" cy="585216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4604">
            <a:solidFill>
              <a:srgbClr val="FF414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二次停工 / 培训超时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不可复岗加分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3364992"/>
            <a:ext cx="1645920" cy="585216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4604">
            <a:solidFill>
              <a:srgbClr val="FF414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人员黑名单库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无审批；本工程公司范围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91640" y="4498848"/>
            <a:ext cx="1783080" cy="585216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4604">
            <a:solidFill>
              <a:srgbClr val="11BC1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同步建立分包商账户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赋分 100，本项目累计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49039" y="4498848"/>
            <a:ext cx="2148840" cy="585216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4604">
            <a:solidFill>
              <a:srgbClr val="11BC1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人员联动扣分（按人次）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违规0.1　培训单0.5　黑名单1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4498848"/>
            <a:ext cx="1965960" cy="585216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4604">
            <a:solidFill>
              <a:srgbClr val="11BC1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人工评价扣分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十五条10 / 十六条5 / 牌参照并行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4498848"/>
            <a:ext cx="1783080" cy="585216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4604">
            <a:solidFill>
              <a:srgbClr val="FF414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第十四条直接列入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不走普通扣分，无审批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87000" y="4498848"/>
            <a:ext cx="1600200" cy="585216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4604">
            <a:solidFill>
              <a:srgbClr val="11BC11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分包商状态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仅 正常 / 黑名单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91640" y="5650992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7F7FF"/>
          </a:solidFill>
          <a:ln w="14604">
            <a:solidFill>
              <a:srgbClr val="5B6C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每月 25 日自动快照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锁定当时累计分与状态，不重置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31920" y="5650992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F7F7FF"/>
          </a:solidFill>
          <a:ln w="14604">
            <a:solidFill>
              <a:srgbClr val="5B6C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月度考核审核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通报例会并上报工程公司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0760" y="5650992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7F7FF"/>
          </a:solidFill>
          <a:ln w="14604">
            <a:solidFill>
              <a:srgbClr val="5B6C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退场冻结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保留历史分与流水，不再考核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5650992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7F7FF"/>
          </a:solidFill>
          <a:ln w="14604">
            <a:solidFill>
              <a:srgbClr val="5B6CFF"/>
            </a:solidFill>
          </a:ln>
          <a:effectLst a:effectLst="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重新进场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恢复参与，沿用原累计分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91640" y="6473952"/>
            <a:ext cx="10241280" cy="2926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人员状态：正常→重点管控→停工培训→清退/黑名单。分包商不因分数自动改状态。自学不加分。不含集团汇总、发卡、平安班组、欠薪门禁、开工条件。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2583180" y="1335024"/>
            <a:ext cx="45720" cy="457200"/>
          </a:xfrm>
          <a:prstGeom prst="line">
            <a:avLst/>
          </a:prstGeom>
          <a:ln w="14604">
            <a:solidFill>
              <a:srgbClr val="8C8C8C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371600" y="1078992"/>
            <a:ext cx="320040" cy="0"/>
          </a:xfrm>
          <a:prstGeom prst="line">
            <a:avLst/>
          </a:prstGeom>
          <a:ln w="14604">
            <a:solidFill>
              <a:srgbClr val="8C8C8C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371600" y="1078992"/>
            <a:ext cx="0" cy="3346704"/>
          </a:xfrm>
          <a:prstGeom prst="line">
            <a:avLst/>
          </a:prstGeom>
          <a:ln w="14604">
            <a:solidFill>
              <a:srgbClr val="8C8C8C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71600" y="4425696"/>
            <a:ext cx="1211580" cy="0"/>
          </a:xfrm>
          <a:prstGeom prst="line">
            <a:avLst/>
          </a:prstGeom>
          <a:ln w="14604">
            <a:solidFill>
              <a:srgbClr val="8C8C8C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583180" y="4425696"/>
            <a:ext cx="0" cy="73152"/>
          </a:xfrm>
          <a:prstGeom prst="line">
            <a:avLst/>
          </a:prstGeom>
          <a:ln w="14604">
            <a:solidFill>
              <a:srgbClr val="8C8C8C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98280" y="1335024"/>
            <a:ext cx="0" cy="109728"/>
          </a:xfrm>
          <a:prstGeom prst="line">
            <a:avLst/>
          </a:prstGeom>
          <a:ln w="14604">
            <a:solidFill>
              <a:srgbClr val="8C8C8C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44752" y="1444752"/>
            <a:ext cx="7653528" cy="0"/>
          </a:xfrm>
          <a:prstGeom prst="line">
            <a:avLst/>
          </a:prstGeom>
          <a:ln w="14604">
            <a:solidFill>
              <a:srgbClr val="8C8C8C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444752" y="1444752"/>
            <a:ext cx="0" cy="2212848"/>
          </a:xfrm>
          <a:prstGeom prst="line">
            <a:avLst/>
          </a:prstGeom>
          <a:ln w="14604">
            <a:solidFill>
              <a:srgbClr val="8C8C8C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444752" y="3657600"/>
            <a:ext cx="4498848" cy="0"/>
          </a:xfrm>
          <a:prstGeom prst="line">
            <a:avLst/>
          </a:prstGeom>
          <a:ln w="14604">
            <a:solidFill>
              <a:srgbClr val="8C8C8C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474720" y="2075688"/>
            <a:ext cx="228600" cy="0"/>
          </a:xfrm>
          <a:prstGeom prst="line">
            <a:avLst/>
          </a:prstGeom>
          <a:ln w="14604">
            <a:solidFill>
              <a:srgbClr val="268D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669279" y="2075688"/>
            <a:ext cx="182881" cy="0"/>
          </a:xfrm>
          <a:prstGeom prst="line">
            <a:avLst/>
          </a:prstGeom>
          <a:ln w="14604">
            <a:solidFill>
              <a:srgbClr val="268D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89520" y="2075688"/>
            <a:ext cx="182880" cy="0"/>
          </a:xfrm>
          <a:prstGeom prst="line">
            <a:avLst/>
          </a:prstGeom>
          <a:ln w="14604">
            <a:solidFill>
              <a:srgbClr val="268D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464040" y="2075688"/>
            <a:ext cx="320040" cy="0"/>
          </a:xfrm>
          <a:prstGeom prst="line">
            <a:avLst/>
          </a:prstGeom>
          <a:ln w="14604">
            <a:solidFill>
              <a:srgbClr val="268D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492740" y="2450592"/>
            <a:ext cx="0" cy="91440"/>
          </a:xfrm>
          <a:prstGeom prst="line">
            <a:avLst/>
          </a:prstGeom>
          <a:ln w="14604">
            <a:solidFill>
              <a:srgbClr val="F77112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9166860" y="2542032"/>
            <a:ext cx="1325880" cy="0"/>
          </a:xfrm>
          <a:prstGeom prst="line">
            <a:avLst/>
          </a:prstGeom>
          <a:ln w="14604">
            <a:solidFill>
              <a:srgbClr val="F77112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166860" y="2542032"/>
            <a:ext cx="0" cy="109728"/>
          </a:xfrm>
          <a:prstGeom prst="line">
            <a:avLst/>
          </a:prstGeom>
          <a:ln w="14604">
            <a:solidFill>
              <a:srgbClr val="F77112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6949440" y="2542032"/>
            <a:ext cx="3543300" cy="0"/>
          </a:xfrm>
          <a:prstGeom prst="line">
            <a:avLst/>
          </a:prstGeom>
          <a:ln w="14604">
            <a:solidFill>
              <a:srgbClr val="F77112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949440" y="2542032"/>
            <a:ext cx="0" cy="109728"/>
          </a:xfrm>
          <a:prstGeom prst="line">
            <a:avLst/>
          </a:prstGeom>
          <a:ln w="14604">
            <a:solidFill>
              <a:srgbClr val="F77112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4663440" y="2542032"/>
            <a:ext cx="5829300" cy="0"/>
          </a:xfrm>
          <a:prstGeom prst="line">
            <a:avLst/>
          </a:prstGeom>
          <a:ln w="14604">
            <a:solidFill>
              <a:srgbClr val="F77112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63440" y="2542032"/>
            <a:ext cx="0" cy="109728"/>
          </a:xfrm>
          <a:prstGeom prst="line">
            <a:avLst/>
          </a:prstGeom>
          <a:ln w="14604">
            <a:solidFill>
              <a:srgbClr val="F77112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537460" y="2542032"/>
            <a:ext cx="7955280" cy="0"/>
          </a:xfrm>
          <a:prstGeom prst="line">
            <a:avLst/>
          </a:prstGeom>
          <a:ln w="14604">
            <a:solidFill>
              <a:srgbClr val="268DFF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537460" y="2542032"/>
            <a:ext cx="0" cy="109728"/>
          </a:xfrm>
          <a:prstGeom prst="line">
            <a:avLst/>
          </a:prstGeom>
          <a:ln w="14604">
            <a:solidFill>
              <a:srgbClr val="268D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949440" y="3163824"/>
            <a:ext cx="0" cy="201168"/>
          </a:xfrm>
          <a:prstGeom prst="line">
            <a:avLst/>
          </a:prstGeom>
          <a:ln w="14604">
            <a:solidFill>
              <a:srgbClr val="268D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166860" y="3163824"/>
            <a:ext cx="0" cy="201168"/>
          </a:xfrm>
          <a:prstGeom prst="line">
            <a:avLst/>
          </a:prstGeom>
          <a:ln w="14604">
            <a:solidFill>
              <a:srgbClr val="FF4141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955279" y="3657600"/>
            <a:ext cx="274321" cy="0"/>
          </a:xfrm>
          <a:prstGeom prst="line">
            <a:avLst/>
          </a:prstGeom>
          <a:ln w="14604">
            <a:solidFill>
              <a:srgbClr val="FF4141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104120" y="3657600"/>
            <a:ext cx="137160" cy="0"/>
          </a:xfrm>
          <a:prstGeom prst="line">
            <a:avLst/>
          </a:prstGeom>
          <a:ln w="14604">
            <a:solidFill>
              <a:srgbClr val="FF4141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474720" y="4791456"/>
            <a:ext cx="274319" cy="0"/>
          </a:xfrm>
          <a:prstGeom prst="line">
            <a:avLst/>
          </a:prstGeom>
          <a:ln w="14604">
            <a:solidFill>
              <a:srgbClr val="11BC11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897879" y="4791456"/>
            <a:ext cx="228601" cy="0"/>
          </a:xfrm>
          <a:prstGeom prst="line">
            <a:avLst/>
          </a:prstGeom>
          <a:ln w="14604">
            <a:solidFill>
              <a:srgbClr val="11BC11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092440" y="4791456"/>
            <a:ext cx="228600" cy="0"/>
          </a:xfrm>
          <a:prstGeom prst="line">
            <a:avLst/>
          </a:prstGeom>
          <a:ln w="14604">
            <a:solidFill>
              <a:srgbClr val="FF4141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104119" y="4791456"/>
            <a:ext cx="182881" cy="0"/>
          </a:xfrm>
          <a:prstGeom prst="line">
            <a:avLst/>
          </a:prstGeom>
          <a:ln w="14604">
            <a:solidFill>
              <a:srgbClr val="11BC11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657600" y="5980176"/>
            <a:ext cx="274320" cy="0"/>
          </a:xfrm>
          <a:prstGeom prst="line">
            <a:avLst/>
          </a:prstGeom>
          <a:ln w="14604">
            <a:solidFill>
              <a:srgbClr val="5B6C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806440" y="5980176"/>
            <a:ext cx="274320" cy="0"/>
          </a:xfrm>
          <a:prstGeom prst="line">
            <a:avLst/>
          </a:prstGeom>
          <a:ln w="14604">
            <a:solidFill>
              <a:srgbClr val="5B6C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046720" y="5980176"/>
            <a:ext cx="274320" cy="0"/>
          </a:xfrm>
          <a:prstGeom prst="line">
            <a:avLst/>
          </a:prstGeom>
          <a:ln w="14604">
            <a:solidFill>
              <a:srgbClr val="5B6C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304019" y="6309359"/>
            <a:ext cx="0" cy="73153"/>
          </a:xfrm>
          <a:prstGeom prst="line">
            <a:avLst/>
          </a:prstGeom>
          <a:ln w="14604">
            <a:solidFill>
              <a:srgbClr val="5B6CFF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7063740" y="6382512"/>
            <a:ext cx="2240279" cy="0"/>
          </a:xfrm>
          <a:prstGeom prst="line">
            <a:avLst/>
          </a:prstGeom>
          <a:ln w="14604">
            <a:solidFill>
              <a:srgbClr val="5B6CFF"/>
            </a:solidFill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063740" y="6309359"/>
            <a:ext cx="0" cy="73153"/>
          </a:xfrm>
          <a:prstGeom prst="line">
            <a:avLst/>
          </a:prstGeom>
          <a:ln w="14604">
            <a:solidFill>
              <a:srgbClr val="5B6CFF"/>
            </a:solidFill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720840" y="2359152"/>
            <a:ext cx="0" cy="1956816"/>
          </a:xfrm>
          <a:prstGeom prst="line">
            <a:avLst/>
          </a:prstGeom>
          <a:ln w="14604">
            <a:solidFill>
              <a:srgbClr val="11BC11"/>
            </a:solidFill>
            <a:prstDash val="dash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4823459" y="4315968"/>
            <a:ext cx="1897381" cy="0"/>
          </a:xfrm>
          <a:prstGeom prst="line">
            <a:avLst/>
          </a:prstGeom>
          <a:ln w="14604">
            <a:solidFill>
              <a:srgbClr val="11BC11"/>
            </a:solidFill>
            <a:prstDash val="dash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823459" y="4315968"/>
            <a:ext cx="0" cy="182880"/>
          </a:xfrm>
          <a:prstGeom prst="line">
            <a:avLst/>
          </a:prstGeom>
          <a:ln w="14604">
            <a:solidFill>
              <a:srgbClr val="11BC11"/>
            </a:solidFill>
            <a:prstDash val="dash"/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108192" y="3163824"/>
            <a:ext cx="0" cy="1152144"/>
          </a:xfrm>
          <a:prstGeom prst="line">
            <a:avLst/>
          </a:prstGeom>
          <a:ln w="14604">
            <a:solidFill>
              <a:srgbClr val="11BC11"/>
            </a:solidFill>
            <a:prstDash val="dash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4069079" y="4315968"/>
            <a:ext cx="2039113" cy="0"/>
          </a:xfrm>
          <a:prstGeom prst="line">
            <a:avLst/>
          </a:prstGeom>
          <a:ln w="14604">
            <a:solidFill>
              <a:srgbClr val="11BC11"/>
            </a:solidFill>
            <a:prstDash val="dash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69079" y="4315968"/>
            <a:ext cx="0" cy="182880"/>
          </a:xfrm>
          <a:prstGeom prst="line">
            <a:avLst/>
          </a:prstGeom>
          <a:ln w="14604">
            <a:solidFill>
              <a:srgbClr val="11BC11"/>
            </a:solidFill>
            <a:prstDash val="dash"/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064240" y="3950208"/>
            <a:ext cx="0" cy="365760"/>
          </a:xfrm>
          <a:prstGeom prst="line">
            <a:avLst/>
          </a:prstGeom>
          <a:ln w="14604">
            <a:solidFill>
              <a:srgbClr val="11BC11"/>
            </a:solidFill>
            <a:prstDash val="dash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5577840" y="4315968"/>
            <a:ext cx="5486400" cy="0"/>
          </a:xfrm>
          <a:prstGeom prst="line">
            <a:avLst/>
          </a:prstGeom>
          <a:ln w="14604">
            <a:solidFill>
              <a:srgbClr val="11BC11"/>
            </a:solidFill>
            <a:prstDash val="dash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577840" y="4315968"/>
            <a:ext cx="0" cy="182880"/>
          </a:xfrm>
          <a:prstGeom prst="line">
            <a:avLst/>
          </a:prstGeom>
          <a:ln w="14604">
            <a:solidFill>
              <a:srgbClr val="11BC11"/>
            </a:solidFill>
            <a:prstDash val="dash"/>
            <a:tailEnd type="triangle" w="med" len="med"/>
          </a:ln>
          <a:effectLst a:effectLst="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